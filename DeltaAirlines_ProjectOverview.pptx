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63" r:id="rId2"/>
    <p:sldId id="256" r:id="rId3"/>
    <p:sldId id="259" r:id="rId4"/>
    <p:sldId id="261" r:id="rId5"/>
    <p:sldId id="264" r:id="rId6"/>
    <p:sldId id="266" r:id="rId7"/>
    <p:sldId id="265" r:id="rId8"/>
    <p:sldId id="267" r:id="rId9"/>
    <p:sldId id="268" r:id="rId10"/>
    <p:sldId id="269" r:id="rId11"/>
    <p:sldId id="270" r:id="rId12"/>
    <p:sldId id="272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977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630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108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09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148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008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901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066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938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51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4805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681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2246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65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423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913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B0F53-EDE3-402E-85B9-675E2D05A1B2}" type="datetimeFigureOut">
              <a:rPr lang="en-IN" smtClean="0"/>
              <a:t>12-10-2024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BD3E955-4375-44DC-A4BE-C799B6513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09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57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AERSOLUTIONS CONSULTING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MINI-SPRINT -CUSTOMER DISCOVERY AS A SALESFORCE CONSULTANT</a:t>
            </a:r>
          </a:p>
          <a:p>
            <a:pPr marL="0" indent="0" algn="ctr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                                                                                                      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r">
              <a:buNone/>
            </a:pPr>
            <a:r>
              <a:rPr lang="en-US" sz="2000" dirty="0" smtClean="0"/>
              <a:t>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AISHWARYA BVN</a:t>
            </a:r>
          </a:p>
          <a:p>
            <a:pPr marL="0" indent="0" algn="r">
              <a:buNone/>
            </a:pP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25	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715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248194"/>
            <a:ext cx="11560628" cy="6505303"/>
          </a:xfrm>
        </p:spPr>
        <p:txBody>
          <a:bodyPr>
            <a:normAutofit fontScale="85000" lnSpcReduction="20000"/>
          </a:bodyPr>
          <a:lstStyle/>
          <a:p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Meeting  Objectives:</a:t>
            </a:r>
          </a:p>
          <a:p>
            <a:pPr algn="l"/>
            <a:r>
              <a:rPr lang="en-US" sz="15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Client  - Delta Airlines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  AI and CRM Solutions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comprehensive insights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5-year business strategy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 Market Dynamic</a:t>
            </a:r>
            <a:r>
              <a:rPr lang="en-IN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Meet Regulatory Requirements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Competitiveness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Ongoing Market Challenges</a:t>
            </a:r>
          </a:p>
          <a:p>
            <a:pPr marL="1200150" lvl="2" indent="-2857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 on how Delta Airlines is facing difficulties with Low Cost Carriers and </a:t>
            </a:r>
            <a:r>
              <a:rPr lang="en-IN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Emerging Compliance Pressures.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Salesforce Implementation Review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the current salesforce Application with a focus on basic CRM functionalities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Discussion on why - Lack of integration with other customer service platforms and limited automation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Management and Security Concerns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how Delta is addressing customer issues </a:t>
            </a:r>
            <a:r>
              <a:rPr lang="en-US" sz="15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admist</a:t>
            </a: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data is </a:t>
            </a:r>
            <a:r>
              <a:rPr lang="en-US" sz="15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siloed</a:t>
            </a:r>
            <a:endParaRPr lang="en-US" sz="15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Delta is coming up with a robust business strategy after recent  security incidents 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Goals and Strategic Vision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on how leveraging CRM +AI  solutions  support Delta’s long term goals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 on Delta’s 5 year Strategy  goals to  be competitive and withstand future challenges in the market.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endParaRPr lang="en-US" sz="15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 and Follow up Actions.</a:t>
            </a:r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 smtClean="0"/>
          </a:p>
          <a:p>
            <a:pPr marL="1257300" lvl="2" indent="-342900" algn="l">
              <a:buFont typeface="Wingdings" panose="05000000000000000000" pitchFamily="2" charset="2"/>
              <a:buChar char="Ø"/>
            </a:pPr>
            <a:endParaRPr lang="en-US" sz="1200" dirty="0" smtClean="0"/>
          </a:p>
          <a:p>
            <a:pPr lvl="2" algn="l"/>
            <a:endParaRPr lang="en-US" sz="12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 smtClean="0"/>
          </a:p>
          <a:p>
            <a:pPr marL="1085850" lvl="2" indent="-171450" algn="l">
              <a:buFont typeface="Wingdings" panose="05000000000000000000" pitchFamily="2" charset="2"/>
              <a:buChar char="Ø"/>
            </a:pPr>
            <a:endParaRPr 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201961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" y="431074"/>
            <a:ext cx="5814695" cy="457200"/>
          </a:xfrm>
        </p:spPr>
        <p:txBody>
          <a:bodyPr>
            <a:noAutofit/>
          </a:bodyPr>
          <a:lstStyle/>
          <a:p>
            <a:pPr algn="ctr"/>
            <a:r>
              <a:rPr lang="en-IN" sz="2000" dirty="0" smtClean="0"/>
              <a:t>First Interview: Senior Stakeholder</a:t>
            </a:r>
            <a:endParaRPr lang="en-IN" sz="2000" dirty="0"/>
          </a:p>
          <a:p>
            <a:pPr algn="ctr"/>
            <a:r>
              <a:rPr lang="en-US" sz="2000" dirty="0" smtClean="0"/>
              <a:t>JORDAN BLAKE</a:t>
            </a:r>
            <a:endParaRPr lang="en-IN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880" y="1214847"/>
            <a:ext cx="5814695" cy="5053194"/>
          </a:xfrm>
        </p:spPr>
        <p:txBody>
          <a:bodyPr>
            <a:normAutofit/>
          </a:bodyPr>
          <a:lstStyle/>
          <a:p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How’s your journey at Delta and what excites you about Delta Airlines?</a:t>
            </a:r>
          </a:p>
          <a:p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is Delta handling the growing competition from low-cost airlines and high regulatory pressures?</a:t>
            </a:r>
          </a:p>
          <a:p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key challenges you face with the current Salesforce setup, especially with its limited integration with other customer service platforms?</a:t>
            </a:r>
          </a:p>
          <a:p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you describe your existing business processes related to customer relationship management?</a:t>
            </a:r>
          </a:p>
          <a:p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primary business objectives you aim to achieve through the adoption of CRM + AI solutions over the next five years?</a:t>
            </a:r>
          </a:p>
          <a:p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strategies is Delta implementing to enhance customer loyalty, and how do you believe the CRM system can support these initiatives?</a:t>
            </a:r>
          </a:p>
          <a:p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9" y="143692"/>
            <a:ext cx="5728063" cy="705393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IN" dirty="0" smtClean="0"/>
              <a:t>Second Interview: Tactical Stakeholder</a:t>
            </a:r>
            <a:endParaRPr lang="en-IN" dirty="0"/>
          </a:p>
          <a:p>
            <a:pPr algn="ctr"/>
            <a:r>
              <a:rPr lang="en-US" dirty="0" smtClean="0"/>
              <a:t>ALEX KIM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136469"/>
            <a:ext cx="5728062" cy="5053194"/>
          </a:xfrm>
        </p:spPr>
        <p:txBody>
          <a:bodyPr>
            <a:normAutofit/>
          </a:bodyPr>
          <a:lstStyle/>
          <a:p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Following the recent security incidents, what security measures have been implemented to safeguard customer data, especially across different platforms?</a:t>
            </a:r>
          </a:p>
          <a:p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is Delta currently addressing the challenges of </a:t>
            </a:r>
            <a:r>
              <a:rPr lang="en-US" sz="1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siloed</a:t>
            </a:r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data, and what impact does this have on resolving customer service issues</a:t>
            </a:r>
          </a:p>
          <a:p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what areas do you think Delta could benefit from increased automation within Salesforce, such as notifications, case management, or issue tracking?</a:t>
            </a:r>
          </a:p>
          <a:p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you describe your current security protocols in place to protect sensitive data during technology integrations</a:t>
            </a:r>
          </a:p>
          <a:p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Delta’s existing infrastructure might not be ready to support large-scale AI and CRM deployments. What’s your opinion?</a:t>
            </a:r>
          </a:p>
          <a:p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types of datasets are currently utilized for customer insights and decision-making?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96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3961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smtClean="0"/>
              <a:t>INTERVIEW APPROACH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862149"/>
            <a:ext cx="10515600" cy="53278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TONE AND RELATIONSHIP</a:t>
            </a:r>
          </a:p>
          <a:p>
            <a:r>
              <a:rPr lang="en-US" sz="1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 the interview  with positivity and openness</a:t>
            </a:r>
          </a:p>
          <a:p>
            <a:r>
              <a:rPr lang="en-US" sz="1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ready to listen actively and adapt to Stakeholder Communication Style.</a:t>
            </a:r>
          </a:p>
          <a:p>
            <a:r>
              <a:rPr lang="en-US" sz="1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curiosity and a willingness to understand their perspective</a:t>
            </a:r>
          </a:p>
          <a:p>
            <a:r>
              <a:rPr lang="en-US" sz="1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Prefer direct communication initially; adapt if the stakeholder leans towards indirect.</a:t>
            </a:r>
          </a:p>
          <a:p>
            <a:pPr marL="0" indent="0">
              <a:buNone/>
            </a:pPr>
            <a:r>
              <a:rPr lang="en-US" sz="17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Focus of the Interview</a:t>
            </a:r>
          </a:p>
          <a:p>
            <a:r>
              <a:rPr lang="en-US" sz="17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Meeting Purpose:</a:t>
            </a:r>
            <a:endParaRPr lang="en-US" sz="17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 insights into Delta Airlines' CRM challenges and 5- year broad business strategic goals.</a:t>
            </a:r>
          </a:p>
          <a:p>
            <a:r>
              <a:rPr lang="en-US" sz="17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Desired Outcomes:</a:t>
            </a:r>
            <a:endParaRPr lang="en-US" sz="17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the stakeholder's perspective on current operations.</a:t>
            </a:r>
          </a:p>
          <a:p>
            <a:pPr lvl="1"/>
            <a:r>
              <a:rPr lang="en-US" sz="1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existing processes and areas for improvement with AI+CRM .</a:t>
            </a:r>
          </a:p>
          <a:p>
            <a:pPr lvl="1"/>
            <a:r>
              <a:rPr lang="en-US" sz="1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 a brief email to the stakeholder that includes:</a:t>
            </a:r>
          </a:p>
          <a:p>
            <a:pPr lvl="2"/>
            <a:r>
              <a:rPr lang="en-US" sz="1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agenda for the interview.</a:t>
            </a:r>
          </a:p>
          <a:p>
            <a:pPr lvl="2"/>
            <a:r>
              <a:rPr lang="en-US" sz="1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objectives of the discussion.</a:t>
            </a:r>
          </a:p>
          <a:p>
            <a:pPr lvl="2"/>
            <a:endParaRPr lang="en-US" sz="2100" dirty="0" smtClean="0"/>
          </a:p>
        </p:txBody>
      </p:sp>
    </p:spTree>
    <p:extLst>
      <p:ext uri="{BB962C8B-B14F-4D97-AF65-F5344CB8AC3E}">
        <p14:creationId xmlns:p14="http://schemas.microsoft.com/office/powerpoint/2010/main" val="201401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3437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DELTA AIRLINES CURRENT PAIN POINTS</a:t>
            </a:r>
            <a:endParaRPr lang="en-IN" sz="32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91671" y="1554783"/>
            <a:ext cx="10518015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System Integration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current systems don’t communicate with each other efficiently,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causing manual work and leading to isolated data that can’t be shared across departments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Real-Time Data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Without immediate access to customer insights, it’s difficult to deliver personalized services, impacting customer satisfaction</a:t>
            </a:r>
            <a:r>
              <a:rPr lang="en-US" alt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Personalization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lack of unified systems means that marketing efforts aren’t customized to individual customer preferences, reducing the effectiveness of campaigns</a:t>
            </a:r>
            <a:r>
              <a:rPr lang="en-US" alt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 vs. Cost Management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While trying to improve services, Delta struggles to manage operational costs, creating a challenge in balancing efficiency and budget</a:t>
            </a:r>
            <a:r>
              <a:rPr lang="en-US" alt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Demand for Sustainability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Customers are increasingly expecting Delta to engage in sustainable practices, making it important to focus on eco-friendly initiatives in customer engagement</a:t>
            </a:r>
            <a:r>
              <a:rPr lang="en-US" alt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756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0636" y="1799562"/>
            <a:ext cx="1159136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 Issues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Inconsistent or inaccurate data hampers decision-making and customer service. Without high-quality data, Delta cannot fully leverage insights to improve operations or personalize services. Duplicate or incomplete data also leads to inefficiencies and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Feedback Loops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absence of effective feedback mechanisms prevents Delta from gaining valuable insights into customer experiences and internal operations. Without real-time feedback, it becomes difficult to address customer pain points, optimize services, or make timely improvements.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Ineffective Self-Service Portal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current self-service portal lacks user-friendliness and functionality, making it difficult for customers to resolve issues on their own. This leads to increased dependency on customer service agents, longer wait times, and decreased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516807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415"/>
            <a:ext cx="10515600" cy="35581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/>
              <a:t>SOLUTIONS</a:t>
            </a:r>
            <a:endParaRPr lang="en-IN" sz="36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99346" y="1484485"/>
            <a:ext cx="11698940" cy="6586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System Integration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a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platform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Salesforce) to integrate systems and streamline processes.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migration tools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eliminate silos and ensure smooth data flow between departments.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Showcase any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process automation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integration workflows you've developed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</a:t>
            </a:r>
            <a:r>
              <a:rPr lang="en-US" altLang="en-US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up 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data analytics dashboards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Salesforce or Power BI.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AI-driven insights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provide personalized customer interactions based on real-time data. </a:t>
            </a:r>
            <a:endParaRPr lang="en-US" altLang="en-US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 examples from any dashboards or data analytics models you've worked on.</a:t>
            </a:r>
            <a:endParaRPr lang="en-US" altLang="en-US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</a:t>
            </a:r>
            <a:r>
              <a:rPr lang="en-US" altLang="en-US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Personalization: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 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unified customer view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align marketing strategies with customer data.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customized marketing automation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CRM platforms like Salesforce, allowing campaigns </a:t>
            </a:r>
            <a:endParaRPr lang="en-US" altLang="en-US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to 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more personalized. </a:t>
            </a:r>
            <a:endParaRPr lang="en-US" altLang="en-US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examples of marketing automation tasks you've completed in Salesforce or Flow</a:t>
            </a:r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 vs. Cost Management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workflows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reduce manual interventions and improve efficiency.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cost-tracking dashboards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real-time expense management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Demand for </a:t>
            </a:r>
            <a:r>
              <a:rPr lang="en-US" altLang="en-US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Sustainability</a:t>
            </a: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sustainability-focused KPIs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the customer journey and engagement strategies.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 the use of 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 technologies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digital solutions that reduce environmental impact.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400" b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9715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891" y="1497517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Improving Data Quality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Governance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Implement rules to ensure accurate, consistent data across systems.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Integration Platforms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 centralized platforms like Salesforce to unify data.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AI-Driven Cleaning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Automate data cleansing to improve quality at scale.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Establishing Feedback Loops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Surveys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Gather real-time feedback through integrated surveys.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 Management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 tools to centralize and analyze feedback from all channels.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Closed-Loop Feedback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Ensure customer feedback directly informs improvements and action plans.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Enhancing Self-Service Portal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User-Centric Design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Redesign the portal to be more intuitive and user-friendly.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Base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Provide clear, searchable solutions for common issues.</a:t>
            </a:r>
          </a:p>
          <a:p>
            <a:pPr lvl="1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&amp;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Chatbots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Implement AI-powered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chatbots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instant customer support.</a:t>
            </a:r>
          </a:p>
        </p:txBody>
      </p:sp>
    </p:spTree>
    <p:extLst>
      <p:ext uri="{BB962C8B-B14F-4D97-AF65-F5344CB8AC3E}">
        <p14:creationId xmlns:p14="http://schemas.microsoft.com/office/powerpoint/2010/main" val="810439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/>
              <a:t>Automation Assessment for Customer Efficiency</a:t>
            </a:r>
            <a:endParaRPr lang="en-IN" sz="24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4184" y="1264555"/>
            <a:ext cx="8915400" cy="3777622"/>
          </a:xfrm>
        </p:spPr>
        <p:txBody>
          <a:bodyPr>
            <a:noAutofit/>
          </a:bodyPr>
          <a:lstStyle/>
          <a:p>
            <a:pPr lvl="0"/>
            <a:r>
              <a:rPr lang="en-IN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</a:t>
            </a: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Interactions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out key customer touchpoints (e.g., inquiries, bookings, support requests).</a:t>
            </a:r>
          </a:p>
          <a:p>
            <a:pPr lvl="1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flow of these interactions to identify areas that are time-consuming or prone to errors.</a:t>
            </a:r>
          </a:p>
          <a:p>
            <a:pPr lvl="0"/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Current Processes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how customer service is currently handled (phone, email, chat).</a:t>
            </a:r>
          </a:p>
          <a:p>
            <a:pPr lvl="1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repetitive tasks, such as responding to FAQs, data entry for bookings, or ticketing processes that could be automated.</a:t>
            </a:r>
          </a:p>
          <a:p>
            <a:pPr lvl="0"/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 Customer Support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IN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Chatbots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Implement AI-driven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chatbots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instant responses to common queries and issues, reducing wait times and enhancing customer satisfaction.</a:t>
            </a:r>
          </a:p>
          <a:p>
            <a:pPr lvl="1"/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Self-Service Portals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Enhance self-service options for customers to manage bookings, access information, and resolve issues independently.</a:t>
            </a:r>
          </a:p>
          <a:p>
            <a:pPr lvl="0"/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Communication Channels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omnichannel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solutions to unify customer communications across platforms (e.g., email, chat, social media) for a seamless experience.</a:t>
            </a:r>
          </a:p>
          <a:p>
            <a:pPr lvl="1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customer data is accessible in real time, enabling service agents to provide personalized assistance</a:t>
            </a:r>
            <a:r>
              <a:rPr lang="en-IN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482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0853" y="1495314"/>
            <a:ext cx="11192435" cy="4280928"/>
          </a:xfrm>
        </p:spPr>
        <p:txBody>
          <a:bodyPr>
            <a:noAutofit/>
          </a:bodyPr>
          <a:lstStyle/>
          <a:p>
            <a:pPr lvl="0"/>
            <a:r>
              <a:rPr lang="en-IN" sz="1200" b="1" dirty="0"/>
              <a:t>Automate Follow-Up Processes</a:t>
            </a:r>
            <a:r>
              <a:rPr lang="en-IN" sz="1200" dirty="0"/>
              <a:t>:</a:t>
            </a:r>
          </a:p>
          <a:p>
            <a:pPr lvl="1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up automated follow-up emails or messages after customer interactions to gather feedback and provide additional assistance or information.</a:t>
            </a:r>
          </a:p>
          <a:p>
            <a:pPr lvl="1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automated reminders for appointments, flight changes, or special offers based on customer preferences.</a:t>
            </a:r>
          </a:p>
          <a:p>
            <a:pPr lvl="0"/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 Data Analytics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analytics tools to monitor customer interactions and identify trends or pain points.</a:t>
            </a:r>
          </a:p>
          <a:p>
            <a:pPr lvl="1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 reporting processes to generate insights on customer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satisfaction, and service efficiency.</a:t>
            </a:r>
          </a:p>
          <a:p>
            <a:pPr lvl="0"/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 Impact and Optimize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 KPIs (Key Performance Indicators) to measure improvements in customer response times, satisfaction scores, and overall service efficiency.</a:t>
            </a:r>
          </a:p>
          <a:p>
            <a:pPr lvl="1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Continuously assess and refine automation solutions based on customer feedback and performance metrics.</a:t>
            </a:r>
          </a:p>
          <a:p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 of Automation for Customer Efficiency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Response Times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Automated responses to common inquiries improve service speed.</a:t>
            </a:r>
          </a:p>
          <a:p>
            <a:pPr lvl="0"/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Customer Satisfaction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Self-service options empower customers, leading to higher satisfaction rates.</a:t>
            </a:r>
          </a:p>
          <a:p>
            <a:pPr lvl="0"/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Workload for Staff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Automation frees up customer service agents to focus on complex issues that require human intervention.</a:t>
            </a:r>
          </a:p>
          <a:p>
            <a:pPr lvl="0"/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Personalization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Unified data allows for tailored customer experiences and interactions.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395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Customer Services process Map</a:t>
            </a:r>
            <a:br>
              <a:rPr lang="en-US" dirty="0" smtClean="0"/>
            </a:br>
            <a:r>
              <a:rPr lang="en-US" dirty="0" smtClean="0"/>
              <a:t>Tool used: Trello</a:t>
            </a:r>
            <a:endParaRPr lang="en-IN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825625"/>
            <a:ext cx="11009811" cy="496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5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81" y="0"/>
            <a:ext cx="4705980" cy="38319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971" y="0"/>
            <a:ext cx="4941109" cy="38415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771" y="3831921"/>
            <a:ext cx="6206532" cy="30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51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5988" y="2596198"/>
            <a:ext cx="9144000" cy="1655762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THANK YOU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23841097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2705</TotalTime>
  <Words>1473</Words>
  <Application>Microsoft Office PowerPoint</Application>
  <PresentationFormat>Widescreen</PresentationFormat>
  <Paragraphs>157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INTERVIEW APPROACH</vt:lpstr>
      <vt:lpstr>DELTA AIRLINES CURRENT PAIN POINTS</vt:lpstr>
      <vt:lpstr>PowerPoint Presentation</vt:lpstr>
      <vt:lpstr>SOLUTIONS</vt:lpstr>
      <vt:lpstr>PowerPoint Presentation</vt:lpstr>
      <vt:lpstr>Automation Assessment for Customer Efficiency</vt:lpstr>
      <vt:lpstr>PowerPoint Presentation</vt:lpstr>
      <vt:lpstr>Customer Services process Map Tool used: Trello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32</cp:revision>
  <dcterms:created xsi:type="dcterms:W3CDTF">2024-09-25T14:42:26Z</dcterms:created>
  <dcterms:modified xsi:type="dcterms:W3CDTF">2024-10-12T09:36:55Z</dcterms:modified>
</cp:coreProperties>
</file>